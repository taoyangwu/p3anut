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0" r:id="rId4"/>
    <p:sldId id="258" r:id="rId5"/>
    <p:sldId id="259" r:id="rId6"/>
    <p:sldId id="261" r:id="rId7"/>
    <p:sldId id="274" r:id="rId8"/>
    <p:sldId id="263" r:id="rId9"/>
    <p:sldId id="264" r:id="rId10"/>
    <p:sldId id="265" r:id="rId11"/>
    <p:sldId id="266" r:id="rId12"/>
    <p:sldId id="267" r:id="rId13"/>
    <p:sldId id="268" r:id="rId14"/>
    <p:sldId id="257" r:id="rId15"/>
    <p:sldId id="269" r:id="rId16"/>
    <p:sldId id="270" r:id="rId17"/>
    <p:sldId id="271" r:id="rId18"/>
    <p:sldId id="272" r:id="rId19"/>
    <p:sldId id="273" r:id="rId20"/>
    <p:sldId id="276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193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2"/>
  </p:normalViewPr>
  <p:slideViewPr>
    <p:cSldViewPr snapToGrid="0">
      <p:cViewPr>
        <p:scale>
          <a:sx n="128" d="100"/>
          <a:sy n="128" d="100"/>
        </p:scale>
        <p:origin x="10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98A75-584E-C5CA-23B4-A83258318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EC7C62-3EE5-3463-5ECC-EBBE1D71E6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53BBD-2BCB-93BD-D524-AC696C132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A83FB-0FF1-FC40-B16E-4722A9A57F6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FDC19-352E-F273-1898-E4B653A8A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137F8-7D20-28E5-49AA-3F2D51F01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F6FC-AF75-CB4B-B158-E76085552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26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2FF9A-30C1-B35C-1042-EFA2139D2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45BB0-B804-4C97-5432-AF7DC3567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91FFF-464E-6ADC-A35F-8F27ECD15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A83FB-0FF1-FC40-B16E-4722A9A57F6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103B9-F714-DF48-BBF9-84ADFEDA2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B2161-8518-5909-F1EC-8353F16D6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F6FC-AF75-CB4B-B158-E76085552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614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67E2A-0E4F-E902-4AC8-5B6AC4D53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63AE1-A9C7-0FA4-63A4-2CD3B38B5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19B0-5EBF-98AE-01CA-DD1B49257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A83FB-0FF1-FC40-B16E-4722A9A57F6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17077-FC45-55E7-1F1D-AEF5D0FD2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C0C15-4301-B5AD-243E-FCB20C4B9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F6FC-AF75-CB4B-B158-E76085552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785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C8626-9F94-93DA-CA0D-F6BEC058F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77CF9-70EC-F82F-13CB-5F43FC9478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9BA38-9E57-4836-401F-BA06CC747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A8D313-F23E-8D8C-0F56-82069B6BE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A83FB-0FF1-FC40-B16E-4722A9A57F6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FE9C8-CA21-D409-25EA-0F0C5A595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FFE9F-44D8-B2FB-EC11-4886E9A0A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F6FC-AF75-CB4B-B158-E76085552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123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A5343-63A0-1507-881B-812BC4BC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801AF6-CFB9-B40B-77CB-63F8ACAE3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6E1F1A-108C-C1C6-226D-F44AFF156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E2C3E9-8C87-4DA5-9852-13B831C436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7E5A96-3AAD-03EF-3609-581D8AA698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401A5C-C31F-C56E-E6F9-377835BA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A83FB-0FF1-FC40-B16E-4722A9A57F6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76E06B-D928-A51C-A9A7-362CCA979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D1FDB8-2AB0-17C5-8531-1B11D433D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F6FC-AF75-CB4B-B158-E76085552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080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CDE15-EC69-0E24-A9B4-FAD4580BF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1A4FD7-2D23-3239-55FF-3D3DA1A99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A83FB-0FF1-FC40-B16E-4722A9A57F6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D2D818-3186-DF3B-DC3B-F8C1107B0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A5B2F9-AC9C-1DC9-99B8-95F8C9191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F6FC-AF75-CB4B-B158-E76085552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49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860CA0-FB13-DC55-E41C-D3B554209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A83FB-0FF1-FC40-B16E-4722A9A57F6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F29C38-188C-30FB-922C-B22CE99D7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07897-9B85-110E-72AC-FB0FF63E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F6FC-AF75-CB4B-B158-E76085552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82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09408-BE7A-2553-0A75-2AD7818A2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3114F-E611-8141-2248-CDDE38554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64582-4ADB-A9E7-9970-6E4EDB030B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A7F61-4E9A-552C-8780-230857CBC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A83FB-0FF1-FC40-B16E-4722A9A57F6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A3472-5DE7-DB49-CDD2-E83FC0816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FF0E2-2CD1-B344-D6C9-C122F2BB7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F6FC-AF75-CB4B-B158-E76085552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543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1DAD5-345A-6BE2-5A9D-AC5F11B86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850B7C-5F3A-A796-E4A7-370F2E1E4D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0F0C56-A2C1-64C0-EFB4-DC1AF46F9D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96D32-F1E7-93D4-D5C8-2BF0FDAB4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A83FB-0FF1-FC40-B16E-4722A9A57F6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099B87-342F-8D74-01F5-16484DFF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ED527-DE62-1A4B-926D-69D90D9B6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F6FC-AF75-CB4B-B158-E76085552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924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5FFC5-16FB-0EE7-3A29-564956E5F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2084A4-60DC-31BA-F44A-E52B8CAAA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6DA5B-5956-A107-219E-46540FA3B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A83FB-0FF1-FC40-B16E-4722A9A57F6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60928-1FE8-C005-3A45-CF576F5D9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C14F8-F674-DDA1-DB3F-EFD57782C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F6FC-AF75-CB4B-B158-E76085552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216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BF4FA7-1CEC-9C08-D55C-D9AB0836A7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33BFB-131B-EC6E-3BD4-8FCAE34A5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FF053-F5C1-F1E8-8C76-C6A64BE6A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A83FB-0FF1-FC40-B16E-4722A9A57F6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B8F74-791D-FF3D-6F04-F3AB31666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8F79-7172-D5CC-1B6D-D3BD8D292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F6FC-AF75-CB4B-B158-E76085552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776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801D3A-270C-7A35-A338-0F6CB4237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A1418-572A-6C0B-2F0F-BD2A5EEAB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635BF-8CBE-0942-7073-09B1C950A2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0A83FB-0FF1-FC40-B16E-4722A9A57F6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29AF2-C650-508F-90D8-2B2D2340CF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02F38-C3EC-6CAB-032A-CD63F5023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2DF6FC-AF75-CB4B-B158-E76085552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70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DEB21-8FEA-8FAC-25C3-40D45581D5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Rhau</a:t>
            </a:r>
            <a:r>
              <a:rPr lang="en-US" dirty="0"/>
              <a:t>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A15EBC-5396-CADD-309F-37F27C91B1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/>
              <a:t>VERSION 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38817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A4A3C-7394-7A2D-64D4-14FE6CBC6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96A55-E0AF-A11C-6673-C9C33913E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Setting common sub-terms for the sequences</a:t>
            </a:r>
          </a:p>
          <a:p>
            <a:r>
              <a:rPr lang="en-US" dirty="0"/>
              <a:t>Why we choose 9 bases on either side of n90 regions</a:t>
            </a:r>
          </a:p>
          <a:p>
            <a:r>
              <a:rPr lang="en-US" dirty="0"/>
              <a:t>Splitting the dataset </a:t>
            </a:r>
          </a:p>
          <a:p>
            <a:r>
              <a:rPr lang="en-US" dirty="0"/>
              <a:t>Initial results</a:t>
            </a:r>
          </a:p>
          <a:p>
            <a:r>
              <a:rPr lang="en-US" dirty="0"/>
              <a:t>Further investigation of </a:t>
            </a:r>
            <a:r>
              <a:rPr lang="en-US" dirty="0" err="1"/>
              <a:t>Non_matched</a:t>
            </a:r>
            <a:r>
              <a:rPr lang="en-US" dirty="0"/>
              <a:t> Regions</a:t>
            </a:r>
          </a:p>
          <a:p>
            <a:r>
              <a:rPr lang="en-US" dirty="0"/>
              <a:t>Potential problem with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735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4C741-D44B-24C2-351B-D4480604C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8EC53-8569-F01D-E4F2-10B68D6CF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2336165"/>
            <a:ext cx="11846560" cy="1325563"/>
          </a:xfrm>
        </p:spPr>
        <p:txBody>
          <a:bodyPr>
            <a:normAutofit/>
          </a:bodyPr>
          <a:lstStyle/>
          <a:p>
            <a:r>
              <a:rPr lang="en-US" sz="1800" dirty="0"/>
              <a:t>…</a:t>
            </a:r>
            <a:r>
              <a:rPr lang="en-US" sz="1800" u="sng" dirty="0">
                <a:highlight>
                  <a:srgbClr val="800000"/>
                </a:highlight>
              </a:rPr>
              <a:t>CCAA</a:t>
            </a:r>
            <a:r>
              <a:rPr lang="en-US" sz="1800" u="sng" dirty="0">
                <a:highlight>
                  <a:srgbClr val="FF0000"/>
                </a:highlight>
              </a:rPr>
              <a:t>ATACTAATACGACTCACTATAGGATTAAGGAGGTG</a:t>
            </a:r>
            <a:r>
              <a:rPr lang="en-US" sz="1800" i="1" u="sng" dirty="0">
                <a:highlight>
                  <a:srgbClr val="FFFF00"/>
                </a:highlight>
              </a:rPr>
              <a:t>ATATTTATG</a:t>
            </a:r>
            <a:br>
              <a:rPr lang="en-US" sz="1800" i="1" u="sng" dirty="0">
                <a:highlight>
                  <a:srgbClr val="FFFF00"/>
                </a:highlight>
              </a:rPr>
            </a:br>
            <a:r>
              <a:rPr lang="en-US" sz="1800" i="1" u="sng" dirty="0"/>
              <a:t>CATCCGGGCCATCTGAAAGGCAGCGAAATTGGCATGTGGTATGCGAAAAAACAGTGTATTCTTTATTTTCTTCGTGATCTTCTTTTTGAT</a:t>
            </a:r>
            <a:br>
              <a:rPr lang="en-US" sz="1800" i="1" u="sng" dirty="0"/>
            </a:br>
            <a:r>
              <a:rPr lang="en-US" sz="1800" i="1" u="sng" dirty="0">
                <a:highlight>
                  <a:srgbClr val="00FFFF"/>
                </a:highlight>
              </a:rPr>
              <a:t>TGCGGTGGA</a:t>
            </a:r>
            <a:r>
              <a:rPr lang="en-US" sz="1800" u="sng" dirty="0">
                <a:highlight>
                  <a:srgbClr val="0000FF"/>
                </a:highlight>
              </a:rPr>
              <a:t>GGA</a:t>
            </a:r>
            <a:r>
              <a:rPr lang="en-US" sz="1800" dirty="0">
                <a:highlight>
                  <a:srgbClr val="0000FF"/>
                </a:highlight>
              </a:rPr>
              <a:t>GGAGGTAGCTAGGGACGGGGGGCGGGAGGCGGG</a:t>
            </a:r>
            <a:r>
              <a:rPr lang="en-US" sz="1800" dirty="0">
                <a:highlight>
                  <a:srgbClr val="008080"/>
                </a:highlight>
              </a:rPr>
              <a:t>AAGG</a:t>
            </a:r>
            <a:r>
              <a:rPr lang="en-US" sz="1800" dirty="0"/>
              <a:t>…</a:t>
            </a:r>
            <a:br>
              <a:rPr lang="en-US" sz="900" dirty="0"/>
            </a:br>
            <a:endParaRPr lang="en-US" sz="900" u="sng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D19CE80-C53F-17A2-6EB9-86E830B54FC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Break down of Sequences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D54544-C753-ABB2-8C1B-4495CC0F94B6}"/>
              </a:ext>
            </a:extLst>
          </p:cNvPr>
          <p:cNvSpPr txBox="1"/>
          <p:nvPr/>
        </p:nvSpPr>
        <p:spPr>
          <a:xfrm>
            <a:off x="142240" y="1461532"/>
            <a:ext cx="721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@LH00157:478:22MH22LT4:6:1101:9092:1196 Forward Sequence 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B82D6E0-E45A-204F-B085-F228EE40B45C}"/>
              </a:ext>
            </a:extLst>
          </p:cNvPr>
          <p:cNvSpPr/>
          <p:nvPr/>
        </p:nvSpPr>
        <p:spPr>
          <a:xfrm>
            <a:off x="6258560" y="3911600"/>
            <a:ext cx="4124960" cy="1168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/>
              <a:t>Underlined</a:t>
            </a:r>
            <a:r>
              <a:rPr lang="en-US" dirty="0"/>
              <a:t> text are the bases in the forward read. The remaining are added for understanding and </a:t>
            </a:r>
            <a:r>
              <a:rPr lang="en-US" dirty="0" err="1"/>
              <a:t>expalination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3DC9AC6-6824-7072-0DA0-EC5317996528}"/>
              </a:ext>
            </a:extLst>
          </p:cNvPr>
          <p:cNvSpPr/>
          <p:nvPr/>
        </p:nvSpPr>
        <p:spPr>
          <a:xfrm>
            <a:off x="8382000" y="662781"/>
            <a:ext cx="3088640" cy="145621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Sequence is broken down into 3 lines to make it easier to read and increase the font</a:t>
            </a:r>
          </a:p>
        </p:txBody>
      </p:sp>
      <p:sp>
        <p:nvSpPr>
          <p:cNvPr id="11" name="Right Bracket 10">
            <a:extLst>
              <a:ext uri="{FF2B5EF4-FFF2-40B4-BE49-F238E27FC236}">
                <a16:creationId xmlns:a16="http://schemas.microsoft.com/office/drawing/2014/main" id="{3383AE64-8C23-2CE5-B24D-B9921DEDF8AD}"/>
              </a:ext>
            </a:extLst>
          </p:cNvPr>
          <p:cNvSpPr/>
          <p:nvPr/>
        </p:nvSpPr>
        <p:spPr>
          <a:xfrm>
            <a:off x="11775440" y="2336165"/>
            <a:ext cx="254000" cy="1092835"/>
          </a:xfrm>
          <a:prstGeom prst="rightBracket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78C693E-F1B7-0BED-B8D3-C44F60235219}"/>
              </a:ext>
            </a:extLst>
          </p:cNvPr>
          <p:cNvCxnSpPr>
            <a:cxnSpLocks/>
          </p:cNvCxnSpPr>
          <p:nvPr/>
        </p:nvCxnSpPr>
        <p:spPr>
          <a:xfrm>
            <a:off x="11470640" y="1390888"/>
            <a:ext cx="304800" cy="945277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770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E543E-A95B-326E-DAA4-1C13C5A42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2336165"/>
            <a:ext cx="11846560" cy="1325563"/>
          </a:xfrm>
        </p:spPr>
        <p:txBody>
          <a:bodyPr>
            <a:normAutofit/>
          </a:bodyPr>
          <a:lstStyle/>
          <a:p>
            <a:r>
              <a:rPr lang="en-US" sz="1800" dirty="0"/>
              <a:t>…</a:t>
            </a:r>
            <a:r>
              <a:rPr lang="en-US" sz="1800" u="sng" dirty="0">
                <a:highlight>
                  <a:srgbClr val="800000"/>
                </a:highlight>
              </a:rPr>
              <a:t>CCAA</a:t>
            </a:r>
            <a:r>
              <a:rPr lang="en-US" sz="1800" u="sng" dirty="0">
                <a:highlight>
                  <a:srgbClr val="FF0000"/>
                </a:highlight>
              </a:rPr>
              <a:t>ATACTAATACGACTCACTATAGGATTAAGGAGGTG</a:t>
            </a:r>
            <a:r>
              <a:rPr lang="en-US" sz="1800" i="1" u="sng" dirty="0">
                <a:highlight>
                  <a:srgbClr val="FFFF00"/>
                </a:highlight>
              </a:rPr>
              <a:t>ATATTTATG</a:t>
            </a:r>
            <a:br>
              <a:rPr lang="en-US" sz="1800" i="1" u="sng" dirty="0">
                <a:highlight>
                  <a:srgbClr val="FFFF00"/>
                </a:highlight>
              </a:rPr>
            </a:br>
            <a:r>
              <a:rPr lang="en-US" sz="1800" i="1" u="sng" dirty="0"/>
              <a:t>CATCCGGGCCATCTGAAAGGCAGCGAAATTGGCATGTGGTATGCGAAAAAACAGTGTATTCTTTATTTTCTTCGTGATCTTCTTTTTGAT</a:t>
            </a:r>
            <a:br>
              <a:rPr lang="en-US" sz="1800" i="1" u="sng" dirty="0"/>
            </a:br>
            <a:r>
              <a:rPr lang="en-US" sz="1800" i="1" u="sng" dirty="0">
                <a:highlight>
                  <a:srgbClr val="00FFFF"/>
                </a:highlight>
              </a:rPr>
              <a:t>TGCGGTGGA</a:t>
            </a:r>
            <a:r>
              <a:rPr lang="en-US" sz="1800" u="sng" dirty="0">
                <a:highlight>
                  <a:srgbClr val="0000FF"/>
                </a:highlight>
              </a:rPr>
              <a:t>GGA</a:t>
            </a:r>
            <a:r>
              <a:rPr lang="en-US" sz="1800" dirty="0">
                <a:highlight>
                  <a:srgbClr val="0000FF"/>
                </a:highlight>
              </a:rPr>
              <a:t>GGAGGTAGCTAGGGACGGGGGGCGGGAGGCGGG</a:t>
            </a:r>
            <a:r>
              <a:rPr lang="en-US" sz="1800" dirty="0">
                <a:highlight>
                  <a:srgbClr val="008080"/>
                </a:highlight>
              </a:rPr>
              <a:t>AAGG</a:t>
            </a:r>
            <a:r>
              <a:rPr lang="en-US" sz="1800" dirty="0"/>
              <a:t>…</a:t>
            </a:r>
            <a:br>
              <a:rPr lang="en-US" sz="900" dirty="0"/>
            </a:br>
            <a:endParaRPr lang="en-US" sz="900" u="sng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9916C1D-B3F0-C3DD-05B4-ABB5E55EA97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Break down of Sequences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134CEDF0-B6D5-5996-8276-26D1D7AA51C1}"/>
              </a:ext>
            </a:extLst>
          </p:cNvPr>
          <p:cNvSpPr/>
          <p:nvPr/>
        </p:nvSpPr>
        <p:spPr>
          <a:xfrm rot="5400000">
            <a:off x="3040062" y="-688658"/>
            <a:ext cx="323215" cy="611378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CC016A5-E2ED-3670-9462-996768D46E0E}"/>
              </a:ext>
            </a:extLst>
          </p:cNvPr>
          <p:cNvSpPr/>
          <p:nvPr/>
        </p:nvSpPr>
        <p:spPr>
          <a:xfrm>
            <a:off x="1584960" y="1107440"/>
            <a:ext cx="326136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Red and Yellow Denotes before the N90 Random sequence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0AA17F8A-C19E-9061-D038-7B6ECE96A15E}"/>
              </a:ext>
            </a:extLst>
          </p:cNvPr>
          <p:cNvSpPr/>
          <p:nvPr/>
        </p:nvSpPr>
        <p:spPr>
          <a:xfrm rot="16200000">
            <a:off x="3532823" y="-64772"/>
            <a:ext cx="323215" cy="709930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6A09544-9B73-3C32-09A6-7B7D51D949CC}"/>
              </a:ext>
            </a:extLst>
          </p:cNvPr>
          <p:cNvSpPr/>
          <p:nvPr/>
        </p:nvSpPr>
        <p:spPr>
          <a:xfrm>
            <a:off x="2733040" y="3702051"/>
            <a:ext cx="326136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Blue and Greens denote the bases after the random sequence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50A1FA8-496E-D1B4-9351-1AB0E443918B}"/>
              </a:ext>
            </a:extLst>
          </p:cNvPr>
          <p:cNvSpPr/>
          <p:nvPr/>
        </p:nvSpPr>
        <p:spPr>
          <a:xfrm>
            <a:off x="8686800" y="3556000"/>
            <a:ext cx="3068320" cy="12395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Underlined white background text is the N90 random regions</a:t>
            </a:r>
          </a:p>
        </p:txBody>
      </p:sp>
    </p:spTree>
    <p:extLst>
      <p:ext uri="{BB962C8B-B14F-4D97-AF65-F5344CB8AC3E}">
        <p14:creationId xmlns:p14="http://schemas.microsoft.com/office/powerpoint/2010/main" val="2970570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CCC9A-B9B5-D11C-74CF-8A3A97BAF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5D2DD-1071-6A20-2C1D-C6D32238F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2336165"/>
            <a:ext cx="11846560" cy="132556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…</a:t>
            </a:r>
            <a:r>
              <a:rPr lang="en-US" sz="3600" u="sng" dirty="0">
                <a:highlight>
                  <a:srgbClr val="800000"/>
                </a:highlight>
              </a:rPr>
              <a:t>CCAA</a:t>
            </a:r>
            <a:r>
              <a:rPr lang="en-US" sz="3600" u="sng" dirty="0">
                <a:highlight>
                  <a:srgbClr val="FF0000"/>
                </a:highlight>
              </a:rPr>
              <a:t>ATACTAATACGACTCACTATAGGATTAAGGAGGTG</a:t>
            </a:r>
            <a:r>
              <a:rPr lang="en-US" sz="3600" i="1" u="sng" dirty="0">
                <a:highlight>
                  <a:srgbClr val="FFFF00"/>
                </a:highlight>
              </a:rPr>
              <a:t>ATATTTATG</a:t>
            </a:r>
            <a:br>
              <a:rPr lang="en-US" sz="1800" i="1" u="sng" dirty="0">
                <a:highlight>
                  <a:srgbClr val="FFFF00"/>
                </a:highlight>
              </a:rPr>
            </a:br>
            <a:br>
              <a:rPr lang="en-US" sz="900" dirty="0"/>
            </a:br>
            <a:endParaRPr lang="en-US" sz="900" u="sng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0EE7FF8-97A3-8BE1-FF3A-4ABABD28875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Break down of Before base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6761189E-E1E9-36B7-EB94-53E058F53541}"/>
              </a:ext>
            </a:extLst>
          </p:cNvPr>
          <p:cNvSpPr/>
          <p:nvPr/>
        </p:nvSpPr>
        <p:spPr>
          <a:xfrm rot="5400000">
            <a:off x="135571" y="2215834"/>
            <a:ext cx="323216" cy="30479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BE09522-875D-989A-C619-AB1562D05660}"/>
              </a:ext>
            </a:extLst>
          </p:cNvPr>
          <p:cNvSpPr/>
          <p:nvPr/>
        </p:nvSpPr>
        <p:spPr>
          <a:xfrm>
            <a:off x="4937760" y="1144588"/>
            <a:ext cx="3261360" cy="9144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Bright Red and Yellow Denotes 5’ Common sequence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25731ADB-3601-1FAA-B654-A62E86AEF8D8}"/>
              </a:ext>
            </a:extLst>
          </p:cNvPr>
          <p:cNvSpPr/>
          <p:nvPr/>
        </p:nvSpPr>
        <p:spPr>
          <a:xfrm rot="16200000">
            <a:off x="779463" y="2993388"/>
            <a:ext cx="323215" cy="982984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2A9DE8DB-77ED-DADD-804D-3BB644211259}"/>
              </a:ext>
            </a:extLst>
          </p:cNvPr>
          <p:cNvSpPr/>
          <p:nvPr/>
        </p:nvSpPr>
        <p:spPr>
          <a:xfrm rot="5400000">
            <a:off x="6196332" y="-2561588"/>
            <a:ext cx="378462" cy="9804399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9B42631-A027-23C3-0A72-AFCC90B57370}"/>
              </a:ext>
            </a:extLst>
          </p:cNvPr>
          <p:cNvSpPr/>
          <p:nvPr/>
        </p:nvSpPr>
        <p:spPr>
          <a:xfrm>
            <a:off x="144780" y="1074738"/>
            <a:ext cx="3444240" cy="110807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5’ Primer before the barcode. Bases not included in FQ files and cut from breakdown for brevity 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B759D09-E584-33EF-DFC4-E2DEA0E8D85D}"/>
              </a:ext>
            </a:extLst>
          </p:cNvPr>
          <p:cNvSpPr/>
          <p:nvPr/>
        </p:nvSpPr>
        <p:spPr>
          <a:xfrm>
            <a:off x="297179" y="3901121"/>
            <a:ext cx="3444240" cy="110807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Dark Red is the barcode used to denote which run 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8BDA51F8-35B5-0AA9-85AD-855CB8EFD545}"/>
              </a:ext>
            </a:extLst>
          </p:cNvPr>
          <p:cNvSpPr/>
          <p:nvPr/>
        </p:nvSpPr>
        <p:spPr>
          <a:xfrm rot="16200000">
            <a:off x="10248583" y="2439983"/>
            <a:ext cx="323215" cy="1755148"/>
          </a:xfrm>
          <a:prstGeom prst="leftBrac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9905217-C582-8A1B-09AA-9193FBBB4C09}"/>
              </a:ext>
            </a:extLst>
          </p:cNvPr>
          <p:cNvSpPr/>
          <p:nvPr/>
        </p:nvSpPr>
        <p:spPr>
          <a:xfrm>
            <a:off x="7967979" y="3640134"/>
            <a:ext cx="3444240" cy="159226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Yellow is the final 9 bases used for 5’. 9 is chosen as the largest number that is even divisible by 3 that is in forward and reverse sequence</a:t>
            </a:r>
          </a:p>
        </p:txBody>
      </p:sp>
    </p:spTree>
    <p:extLst>
      <p:ext uri="{BB962C8B-B14F-4D97-AF65-F5344CB8AC3E}">
        <p14:creationId xmlns:p14="http://schemas.microsoft.com/office/powerpoint/2010/main" val="4073336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2E10B-B59C-99E5-6A9A-4EE4AC684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3BC19-B23E-AC13-71DE-AE70C0EDE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2336165"/>
            <a:ext cx="11846560" cy="1325563"/>
          </a:xfrm>
        </p:spPr>
        <p:txBody>
          <a:bodyPr>
            <a:normAutofit/>
          </a:bodyPr>
          <a:lstStyle/>
          <a:p>
            <a:r>
              <a:rPr lang="en-US" sz="2800" i="1" u="sng" dirty="0">
                <a:highlight>
                  <a:srgbClr val="00FFFF"/>
                </a:highlight>
              </a:rPr>
              <a:t>TGCGGTGGA</a:t>
            </a:r>
            <a:r>
              <a:rPr lang="en-US" sz="2800" u="sng" dirty="0">
                <a:highlight>
                  <a:srgbClr val="0000FF"/>
                </a:highlight>
              </a:rPr>
              <a:t>GGA</a:t>
            </a:r>
            <a:r>
              <a:rPr lang="en-US" sz="2800" dirty="0">
                <a:highlight>
                  <a:srgbClr val="0000FF"/>
                </a:highlight>
              </a:rPr>
              <a:t>GGAGGTAGCTAGGGACGGGGGGCGGGAGGCGGG</a:t>
            </a:r>
            <a:r>
              <a:rPr lang="en-US" sz="2800" dirty="0">
                <a:highlight>
                  <a:srgbClr val="008080"/>
                </a:highlight>
              </a:rPr>
              <a:t>AAGG</a:t>
            </a:r>
            <a:r>
              <a:rPr lang="en-US" sz="2800" dirty="0"/>
              <a:t>…</a:t>
            </a:r>
            <a:endParaRPr lang="en-US" sz="2800" u="sng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3E6344C-C2F6-0BBE-7F60-81CB9EF30EF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Break down of After Sequence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0450911E-7EC4-E062-3C9F-D5E85BDD2D24}"/>
              </a:ext>
            </a:extLst>
          </p:cNvPr>
          <p:cNvSpPr/>
          <p:nvPr/>
        </p:nvSpPr>
        <p:spPr>
          <a:xfrm rot="5400000">
            <a:off x="944452" y="1406953"/>
            <a:ext cx="323215" cy="192255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5CFB223-57BE-5E88-9F78-8458F7A6B43F}"/>
              </a:ext>
            </a:extLst>
          </p:cNvPr>
          <p:cNvSpPr/>
          <p:nvPr/>
        </p:nvSpPr>
        <p:spPr>
          <a:xfrm>
            <a:off x="71120" y="987425"/>
            <a:ext cx="3642031" cy="1131570"/>
          </a:xfrm>
          <a:prstGeom prst="roundRect">
            <a:avLst/>
          </a:prstGeom>
          <a:solidFill>
            <a:srgbClr val="00FD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Cyan Denotes the first 9 bases of the 3’ common sequence which are present in both forward and reverse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4964E022-679E-181B-3A16-4E1F82F7A806}"/>
              </a:ext>
            </a:extLst>
          </p:cNvPr>
          <p:cNvSpPr/>
          <p:nvPr/>
        </p:nvSpPr>
        <p:spPr>
          <a:xfrm rot="16200000">
            <a:off x="5019496" y="-1551445"/>
            <a:ext cx="323215" cy="1007265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FD3C204-2F58-F929-3177-60BF8D994BCD}"/>
              </a:ext>
            </a:extLst>
          </p:cNvPr>
          <p:cNvSpPr/>
          <p:nvPr/>
        </p:nvSpPr>
        <p:spPr>
          <a:xfrm>
            <a:off x="2733040" y="3702051"/>
            <a:ext cx="3261360" cy="9144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Blue and Cyan is the 3’ Common Sequence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DE71121-4214-230B-8179-AB86F51E4F9D}"/>
              </a:ext>
            </a:extLst>
          </p:cNvPr>
          <p:cNvSpPr/>
          <p:nvPr/>
        </p:nvSpPr>
        <p:spPr>
          <a:xfrm>
            <a:off x="8491110" y="3794927"/>
            <a:ext cx="3261360" cy="9144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Additional bases present but not read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5EB75CC6-810B-DA72-D2F1-F90E6A1A9B20}"/>
              </a:ext>
            </a:extLst>
          </p:cNvPr>
          <p:cNvSpPr/>
          <p:nvPr/>
        </p:nvSpPr>
        <p:spPr>
          <a:xfrm rot="5400000">
            <a:off x="10460562" y="2052707"/>
            <a:ext cx="323215" cy="80948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93FACB4A-2498-E941-C960-295D734E1F0E}"/>
              </a:ext>
            </a:extLst>
          </p:cNvPr>
          <p:cNvSpPr/>
          <p:nvPr/>
        </p:nvSpPr>
        <p:spPr>
          <a:xfrm rot="16200000">
            <a:off x="11134713" y="3305258"/>
            <a:ext cx="323215" cy="24748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74D0D72-1E36-9204-CF2C-24F49A8D6AA5}"/>
              </a:ext>
            </a:extLst>
          </p:cNvPr>
          <p:cNvSpPr/>
          <p:nvPr/>
        </p:nvSpPr>
        <p:spPr>
          <a:xfrm>
            <a:off x="7917953" y="1356995"/>
            <a:ext cx="3261360" cy="914400"/>
          </a:xfrm>
          <a:prstGeom prst="roundRect">
            <a:avLst/>
          </a:prstGeom>
          <a:solidFill>
            <a:srgbClr val="0091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Seagreen</a:t>
            </a:r>
            <a:r>
              <a:rPr lang="en-US" dirty="0"/>
              <a:t> is the 3’ barcode</a:t>
            </a:r>
          </a:p>
        </p:txBody>
      </p:sp>
    </p:spTree>
    <p:extLst>
      <p:ext uri="{BB962C8B-B14F-4D97-AF65-F5344CB8AC3E}">
        <p14:creationId xmlns:p14="http://schemas.microsoft.com/office/powerpoint/2010/main" val="2818756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1FBF6-5231-304B-4C5D-C3CBDEF21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35658"/>
            <a:ext cx="10065026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highlight>
                  <a:srgbClr val="800000"/>
                </a:highlight>
              </a:rPr>
              <a:t>CCAA</a:t>
            </a:r>
            <a:r>
              <a:rPr lang="en-US" sz="3200" dirty="0">
                <a:highlight>
                  <a:srgbClr val="FF0000"/>
                </a:highlight>
              </a:rPr>
              <a:t>ATA…GTG</a:t>
            </a:r>
            <a:r>
              <a:rPr lang="en-US" sz="3200" dirty="0">
                <a:highlight>
                  <a:srgbClr val="FFFF00"/>
                </a:highlight>
              </a:rPr>
              <a:t>ATATTTATG</a:t>
            </a:r>
            <a:r>
              <a:rPr lang="en-US" sz="3200" dirty="0"/>
              <a:t>…N90…</a:t>
            </a:r>
            <a:r>
              <a:rPr lang="en-US" sz="3200" dirty="0">
                <a:highlight>
                  <a:srgbClr val="00FFFF"/>
                </a:highlight>
              </a:rPr>
              <a:t>TGCGGTGGA</a:t>
            </a:r>
            <a:r>
              <a:rPr lang="en-US" sz="3200" dirty="0">
                <a:highlight>
                  <a:srgbClr val="0000FF"/>
                </a:highlight>
              </a:rPr>
              <a:t>GGA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CF24B9D-C16B-4A61-C119-FAFAC447DA9B}"/>
              </a:ext>
            </a:extLst>
          </p:cNvPr>
          <p:cNvSpPr txBox="1">
            <a:spLocks/>
          </p:cNvSpPr>
          <p:nvPr/>
        </p:nvSpPr>
        <p:spPr>
          <a:xfrm>
            <a:off x="2126974" y="2860881"/>
            <a:ext cx="1006502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highlight>
                  <a:srgbClr val="FF0000"/>
                </a:highlight>
              </a:rPr>
              <a:t>TG</a:t>
            </a:r>
            <a:r>
              <a:rPr lang="en-US" sz="3200" dirty="0">
                <a:highlight>
                  <a:srgbClr val="FFFF00"/>
                </a:highlight>
              </a:rPr>
              <a:t>ATATTTATG</a:t>
            </a:r>
            <a:r>
              <a:rPr lang="en-US" sz="3200" dirty="0"/>
              <a:t>…N90…</a:t>
            </a:r>
            <a:r>
              <a:rPr lang="en-US" sz="3200" dirty="0">
                <a:highlight>
                  <a:srgbClr val="00FFFF"/>
                </a:highlight>
              </a:rPr>
              <a:t>TGCGGTGGA</a:t>
            </a:r>
            <a:r>
              <a:rPr lang="en-US" sz="3200" dirty="0">
                <a:highlight>
                  <a:srgbClr val="0000FF"/>
                </a:highlight>
              </a:rPr>
              <a:t>GGA…GGG</a:t>
            </a:r>
            <a:r>
              <a:rPr lang="en-US" sz="3200" dirty="0">
                <a:highlight>
                  <a:srgbClr val="008080"/>
                </a:highlight>
              </a:rPr>
              <a:t>TACG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33517CD9-8E4D-99B1-31EC-DAF821F23F32}"/>
              </a:ext>
            </a:extLst>
          </p:cNvPr>
          <p:cNvSpPr/>
          <p:nvPr/>
        </p:nvSpPr>
        <p:spPr>
          <a:xfrm rot="16200000">
            <a:off x="7297808" y="1278848"/>
            <a:ext cx="467139" cy="217170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591A3E89-EDFE-AA17-36B8-0FEE6A835D2A}"/>
              </a:ext>
            </a:extLst>
          </p:cNvPr>
          <p:cNvSpPr/>
          <p:nvPr/>
        </p:nvSpPr>
        <p:spPr>
          <a:xfrm rot="16200000">
            <a:off x="3966957" y="1416753"/>
            <a:ext cx="467139" cy="189589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5E08335-94C6-6DA4-A8E7-1B61CDD5604E}"/>
              </a:ext>
            </a:extLst>
          </p:cNvPr>
          <p:cNvSpPr/>
          <p:nvPr/>
        </p:nvSpPr>
        <p:spPr>
          <a:xfrm>
            <a:off x="3687417" y="1341783"/>
            <a:ext cx="4293705" cy="6162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 Bases is the largest N % 3 == 0 number for each common sequence overlap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1FB3B49-0916-E78E-2867-2BD6A6CC2266}"/>
              </a:ext>
            </a:extLst>
          </p:cNvPr>
          <p:cNvSpPr/>
          <p:nvPr/>
        </p:nvSpPr>
        <p:spPr>
          <a:xfrm>
            <a:off x="9735377" y="2000562"/>
            <a:ext cx="2107096" cy="5252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Forward Sequence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214172C-7BF3-4BB0-A55C-4E4FE6A93053}"/>
              </a:ext>
            </a:extLst>
          </p:cNvPr>
          <p:cNvCxnSpPr>
            <a:stCxn id="8" idx="2"/>
          </p:cNvCxnSpPr>
          <p:nvPr/>
        </p:nvCxnSpPr>
        <p:spPr>
          <a:xfrm flipH="1">
            <a:off x="9422296" y="2525785"/>
            <a:ext cx="1366629" cy="4726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3C02FC9-6324-9926-867D-400D75A7580E}"/>
              </a:ext>
            </a:extLst>
          </p:cNvPr>
          <p:cNvSpPr/>
          <p:nvPr/>
        </p:nvSpPr>
        <p:spPr>
          <a:xfrm>
            <a:off x="496956" y="4013563"/>
            <a:ext cx="3568148" cy="13962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Reverse Sequence where the </a:t>
            </a:r>
            <a:r>
              <a:rPr lang="en-US" dirty="0" err="1"/>
              <a:t>ssequnce</a:t>
            </a:r>
            <a:r>
              <a:rPr lang="en-US" dirty="0"/>
              <a:t> is reverse and bases swapped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897BC84-CCEE-35D9-116C-EF842269C214}"/>
              </a:ext>
            </a:extLst>
          </p:cNvPr>
          <p:cNvCxnSpPr>
            <a:stCxn id="11" idx="0"/>
          </p:cNvCxnSpPr>
          <p:nvPr/>
        </p:nvCxnSpPr>
        <p:spPr>
          <a:xfrm flipV="1">
            <a:off x="2281030" y="3523662"/>
            <a:ext cx="501927" cy="489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B564A2FB-E216-4E91-4195-2D8D6DBFC20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Why 9 Bases on either ends</a:t>
            </a:r>
          </a:p>
        </p:txBody>
      </p:sp>
    </p:spTree>
    <p:extLst>
      <p:ext uri="{BB962C8B-B14F-4D97-AF65-F5344CB8AC3E}">
        <p14:creationId xmlns:p14="http://schemas.microsoft.com/office/powerpoint/2010/main" val="2751140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3785E-DC9B-FA85-985E-E524DA50D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Split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E241E-5354-797D-E501-21CEF04F6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8425"/>
            <a:ext cx="10515600" cy="4351338"/>
          </a:xfrm>
        </p:spPr>
        <p:txBody>
          <a:bodyPr/>
          <a:lstStyle/>
          <a:p>
            <a:r>
              <a:rPr lang="en-US" dirty="0"/>
              <a:t>The first step we did was to split Rhau18_12aa-R3-R7_R1.fq and Rhau18_12aa-R3-R7_R1.fq along the barcodes</a:t>
            </a:r>
          </a:p>
          <a:p>
            <a:r>
              <a:rPr lang="en-US" dirty="0"/>
              <a:t>We used the barcodes within the shared primer excel file</a:t>
            </a:r>
          </a:p>
          <a:p>
            <a:r>
              <a:rPr lang="en-US" dirty="0"/>
              <a:t>We compared the first 4 bases to the barcodes and where there wasn’t a direct match we assigned </a:t>
            </a:r>
            <a:r>
              <a:rPr lang="en-US" dirty="0" err="1"/>
              <a:t>non_matched</a:t>
            </a:r>
            <a:r>
              <a:rPr lang="en-US" dirty="0"/>
              <a:t> label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623A94-23E1-2798-0D1C-62C2B3E95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070690"/>
              </p:ext>
            </p:extLst>
          </p:nvPr>
        </p:nvGraphicFramePr>
        <p:xfrm>
          <a:off x="173384" y="3727175"/>
          <a:ext cx="11693940" cy="3080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3485">
                  <a:extLst>
                    <a:ext uri="{9D8B030D-6E8A-4147-A177-3AD203B41FA5}">
                      <a16:colId xmlns:a16="http://schemas.microsoft.com/office/drawing/2014/main" val="4203310784"/>
                    </a:ext>
                  </a:extLst>
                </a:gridCol>
                <a:gridCol w="2923485">
                  <a:extLst>
                    <a:ext uri="{9D8B030D-6E8A-4147-A177-3AD203B41FA5}">
                      <a16:colId xmlns:a16="http://schemas.microsoft.com/office/drawing/2014/main" val="2928874027"/>
                    </a:ext>
                  </a:extLst>
                </a:gridCol>
                <a:gridCol w="2923485">
                  <a:extLst>
                    <a:ext uri="{9D8B030D-6E8A-4147-A177-3AD203B41FA5}">
                      <a16:colId xmlns:a16="http://schemas.microsoft.com/office/drawing/2014/main" val="3427402"/>
                    </a:ext>
                  </a:extLst>
                </a:gridCol>
                <a:gridCol w="2923485">
                  <a:extLst>
                    <a:ext uri="{9D8B030D-6E8A-4147-A177-3AD203B41FA5}">
                      <a16:colId xmlns:a16="http://schemas.microsoft.com/office/drawing/2014/main" val="177857543"/>
                    </a:ext>
                  </a:extLst>
                </a:gridCol>
              </a:tblGrid>
              <a:tr h="865701">
                <a:tc>
                  <a:txBody>
                    <a:bodyPr/>
                    <a:lstStyle/>
                    <a:p>
                      <a:r>
                        <a:rPr lang="en-US" dirty="0"/>
                        <a:t>Run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Forward Barcode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Reverse Barcode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Swapped and flipped Reverse Barcode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2858503"/>
                  </a:ext>
                </a:extLst>
              </a:tr>
              <a:tr h="442935">
                <a:tc>
                  <a:txBody>
                    <a:bodyPr/>
                    <a:lstStyle/>
                    <a:p>
                      <a:r>
                        <a:rPr lang="en-US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CCAT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TAGG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CCTA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532116"/>
                  </a:ext>
                </a:extLst>
              </a:tr>
              <a:tr h="442935">
                <a:tc>
                  <a:txBody>
                    <a:bodyPr/>
                    <a:lstStyle/>
                    <a:p>
                      <a:r>
                        <a:rPr lang="en-US" dirty="0"/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CCAA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AAGG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CCTT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371522"/>
                  </a:ext>
                </a:extLst>
              </a:tr>
              <a:tr h="442935">
                <a:tc>
                  <a:txBody>
                    <a:bodyPr/>
                    <a:lstStyle/>
                    <a:p>
                      <a:r>
                        <a:rPr lang="en-US" dirty="0"/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CGAT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GCAT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ATGC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353127"/>
                  </a:ext>
                </a:extLst>
              </a:tr>
              <a:tr h="442935">
                <a:tc>
                  <a:txBody>
                    <a:bodyPr/>
                    <a:lstStyle/>
                    <a:p>
                      <a:r>
                        <a:rPr lang="en-US" dirty="0"/>
                        <a:t>R6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CGTT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TTCG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CGAA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309650"/>
                  </a:ext>
                </a:extLst>
              </a:tr>
              <a:tr h="442935">
                <a:tc>
                  <a:txBody>
                    <a:bodyPr/>
                    <a:lstStyle/>
                    <a:p>
                      <a:r>
                        <a:rPr lang="en-US" dirty="0"/>
                        <a:t>R7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ATAC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GAAT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ATTC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950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4468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arcode distribution graph&#10;&#10;AI-generated content may be incorrect.">
            <a:extLst>
              <a:ext uri="{FF2B5EF4-FFF2-40B4-BE49-F238E27FC236}">
                <a16:creationId xmlns:a16="http://schemas.microsoft.com/office/drawing/2014/main" id="{8FC8B6DF-2D27-E1B3-B7E7-65C4FDB03A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2029" y="234070"/>
            <a:ext cx="10649767" cy="6389860"/>
          </a:xfr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00BCF19-481F-C9DD-C626-315BA3D2F3E6}"/>
              </a:ext>
            </a:extLst>
          </p:cNvPr>
          <p:cNvSpPr/>
          <p:nvPr/>
        </p:nvSpPr>
        <p:spPr>
          <a:xfrm>
            <a:off x="9720470" y="1401417"/>
            <a:ext cx="2166730" cy="11032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Significant number of </a:t>
            </a:r>
            <a:r>
              <a:rPr lang="en-US" dirty="0" err="1"/>
              <a:t>non_matched</a:t>
            </a:r>
            <a:r>
              <a:rPr lang="en-US" dirty="0"/>
              <a:t> sequence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A55B87C1-2743-1C95-279D-3D86521EA6E4}"/>
              </a:ext>
            </a:extLst>
          </p:cNvPr>
          <p:cNvSpPr/>
          <p:nvPr/>
        </p:nvSpPr>
        <p:spPr>
          <a:xfrm>
            <a:off x="9919252" y="2753140"/>
            <a:ext cx="616226" cy="1600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318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arcode distribution graph&#10;&#10;AI-generated content may be incorrect.">
            <a:extLst>
              <a:ext uri="{FF2B5EF4-FFF2-40B4-BE49-F238E27FC236}">
                <a16:creationId xmlns:a16="http://schemas.microsoft.com/office/drawing/2014/main" id="{A38F0D72-CA29-072B-B7F5-FAFBFC9636C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/>
          <a:srcRect r="30022"/>
          <a:stretch>
            <a:fillRect/>
          </a:stretch>
        </p:blipFill>
        <p:spPr>
          <a:xfrm>
            <a:off x="646877" y="314577"/>
            <a:ext cx="7264671" cy="6228846"/>
          </a:xfrm>
        </p:spPr>
      </p:pic>
      <p:pic>
        <p:nvPicPr>
          <p:cNvPr id="9" name="Content Placeholder 4" descr="A barcode distribution graph&#10;&#10;AI-generated content may be incorrect.">
            <a:extLst>
              <a:ext uri="{FF2B5EF4-FFF2-40B4-BE49-F238E27FC236}">
                <a16:creationId xmlns:a16="http://schemas.microsoft.com/office/drawing/2014/main" id="{C5B2F30D-EA7C-6653-9B42-D144E2B4D2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83349"/>
          <a:stretch>
            <a:fillRect/>
          </a:stretch>
        </p:blipFill>
        <p:spPr>
          <a:xfrm>
            <a:off x="7911548" y="314577"/>
            <a:ext cx="1728575" cy="6228846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82430E6-AC09-5DED-B521-61E481CA9884}"/>
              </a:ext>
            </a:extLst>
          </p:cNvPr>
          <p:cNvSpPr/>
          <p:nvPr/>
        </p:nvSpPr>
        <p:spPr>
          <a:xfrm>
            <a:off x="8388626" y="1311964"/>
            <a:ext cx="2166730" cy="11032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Significant number of </a:t>
            </a:r>
            <a:r>
              <a:rPr lang="en-US" dirty="0" err="1"/>
              <a:t>non_matched</a:t>
            </a:r>
            <a:r>
              <a:rPr lang="en-US" dirty="0"/>
              <a:t> sequence present in both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6CDB9116-7EEF-9D06-F909-873C68169B26}"/>
              </a:ext>
            </a:extLst>
          </p:cNvPr>
          <p:cNvSpPr/>
          <p:nvPr/>
        </p:nvSpPr>
        <p:spPr>
          <a:xfrm>
            <a:off x="8284682" y="2819480"/>
            <a:ext cx="616226" cy="1600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729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6E25D-A171-8551-700A-493097446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Non_matched</a:t>
            </a:r>
            <a:r>
              <a:rPr lang="en-US" dirty="0"/>
              <a:t> corrections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5D128-3555-9AFC-9D51-F04013C51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attempted to correct and address the significant </a:t>
            </a:r>
            <a:r>
              <a:rPr lang="en-US" dirty="0" err="1"/>
              <a:t>amout</a:t>
            </a:r>
            <a:r>
              <a:rPr lang="en-US" dirty="0"/>
              <a:t> of unmatched sequences through two methods</a:t>
            </a:r>
          </a:p>
          <a:p>
            <a:r>
              <a:rPr lang="en-US" dirty="0"/>
              <a:t>Check the Hamming distance (number of different bases) between read barcode and known round barcode</a:t>
            </a:r>
          </a:p>
          <a:p>
            <a:pPr lvl="1"/>
            <a:r>
              <a:rPr lang="en-US" dirty="0"/>
              <a:t>Corrected 55k of 174K mis-read bases</a:t>
            </a:r>
          </a:p>
          <a:p>
            <a:r>
              <a:rPr lang="en-US" dirty="0"/>
              <a:t>Use the other file to determine the correct round. If a sequence is in R3 and the reverse is unmatched then assume it is R3</a:t>
            </a:r>
          </a:p>
          <a:p>
            <a:pPr lvl="1"/>
            <a:r>
              <a:rPr lang="en-US" dirty="0"/>
              <a:t>Matched </a:t>
            </a:r>
            <a:r>
              <a:rPr lang="en-US" dirty="0" err="1"/>
              <a:t>apon</a:t>
            </a:r>
            <a:r>
              <a:rPr lang="en-US" dirty="0"/>
              <a:t> sequence identifier</a:t>
            </a:r>
          </a:p>
          <a:p>
            <a:pPr lvl="1"/>
            <a:r>
              <a:rPr lang="en-US" dirty="0"/>
              <a:t>Created a quick visualization to test but …. </a:t>
            </a:r>
          </a:p>
        </p:txBody>
      </p:sp>
    </p:spTree>
    <p:extLst>
      <p:ext uri="{BB962C8B-B14F-4D97-AF65-F5344CB8AC3E}">
        <p14:creationId xmlns:p14="http://schemas.microsoft.com/office/powerpoint/2010/main" val="2723461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ue squares with black numbers&#10;&#10;AI-generated content may be incorrect.">
            <a:extLst>
              <a:ext uri="{FF2B5EF4-FFF2-40B4-BE49-F238E27FC236}">
                <a16:creationId xmlns:a16="http://schemas.microsoft.com/office/drawing/2014/main" id="{3B06AA26-685C-992A-970C-4E7A9BF50EB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9409" y="9938"/>
            <a:ext cx="8409551" cy="6725302"/>
          </a:xfr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11C4AA4-F175-9915-5115-967E6E2D4A7B}"/>
              </a:ext>
            </a:extLst>
          </p:cNvPr>
          <p:cNvSpPr/>
          <p:nvPr/>
        </p:nvSpPr>
        <p:spPr>
          <a:xfrm>
            <a:off x="0" y="1977886"/>
            <a:ext cx="1659835" cy="15902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round number based on forward File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F439AC64-281C-E40C-6410-034E8CC8C54D}"/>
              </a:ext>
            </a:extLst>
          </p:cNvPr>
          <p:cNvSpPr/>
          <p:nvPr/>
        </p:nvSpPr>
        <p:spPr>
          <a:xfrm>
            <a:off x="964096" y="1123122"/>
            <a:ext cx="1729408" cy="524786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8E6946CA-1430-7002-989F-F4756C72197F}"/>
              </a:ext>
            </a:extLst>
          </p:cNvPr>
          <p:cNvSpPr/>
          <p:nvPr/>
        </p:nvSpPr>
        <p:spPr>
          <a:xfrm rot="5400000">
            <a:off x="5918752" y="-2344501"/>
            <a:ext cx="354496" cy="5540456"/>
          </a:xfrm>
          <a:prstGeom prst="leftBrace">
            <a:avLst>
              <a:gd name="adj1" fmla="val 8333"/>
              <a:gd name="adj2" fmla="val 6408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CCD328D-0711-72F8-FFCA-99E942C20F00}"/>
              </a:ext>
            </a:extLst>
          </p:cNvPr>
          <p:cNvSpPr/>
          <p:nvPr/>
        </p:nvSpPr>
        <p:spPr>
          <a:xfrm>
            <a:off x="8923682" y="157369"/>
            <a:ext cx="3077817" cy="8912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round number based on Reverse File</a:t>
            </a:r>
          </a:p>
        </p:txBody>
      </p:sp>
    </p:spTree>
    <p:extLst>
      <p:ext uri="{BB962C8B-B14F-4D97-AF65-F5344CB8AC3E}">
        <p14:creationId xmlns:p14="http://schemas.microsoft.com/office/powerpoint/2010/main" val="1748874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69E04-AA7E-C783-B291-7323E9A48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ue squares with black numbers&#10;&#10;AI-generated content may be incorrect.">
            <a:extLst>
              <a:ext uri="{FF2B5EF4-FFF2-40B4-BE49-F238E27FC236}">
                <a16:creationId xmlns:a16="http://schemas.microsoft.com/office/drawing/2014/main" id="{37630991-C41E-073D-56C9-2FA15EC23E1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9409" y="9938"/>
            <a:ext cx="8409551" cy="6725302"/>
          </a:xfr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8D15CE0-83A8-68FC-D88C-8F45E0A2853C}"/>
              </a:ext>
            </a:extLst>
          </p:cNvPr>
          <p:cNvSpPr/>
          <p:nvPr/>
        </p:nvSpPr>
        <p:spPr>
          <a:xfrm>
            <a:off x="3031435" y="904461"/>
            <a:ext cx="1152939" cy="1013791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1135730-114F-C4BF-0600-FAB7890B2020}"/>
              </a:ext>
            </a:extLst>
          </p:cNvPr>
          <p:cNvSpPr/>
          <p:nvPr/>
        </p:nvSpPr>
        <p:spPr>
          <a:xfrm>
            <a:off x="427383" y="665922"/>
            <a:ext cx="2017643" cy="10336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Number of sequences read at R3 for both files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6823E87-6F23-7AD1-56F4-CDFE47334868}"/>
              </a:ext>
            </a:extLst>
          </p:cNvPr>
          <p:cNvCxnSpPr>
            <a:stCxn id="3" idx="3"/>
            <a:endCxn id="2" idx="1"/>
          </p:cNvCxnSpPr>
          <p:nvPr/>
        </p:nvCxnSpPr>
        <p:spPr>
          <a:xfrm>
            <a:off x="2445026" y="1182757"/>
            <a:ext cx="586409" cy="228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AD67A7B-5E27-18F9-135E-251D720B12D0}"/>
              </a:ext>
            </a:extLst>
          </p:cNvPr>
          <p:cNvSpPr/>
          <p:nvPr/>
        </p:nvSpPr>
        <p:spPr>
          <a:xfrm>
            <a:off x="6096000" y="2474844"/>
            <a:ext cx="1152939" cy="1013791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559BB61-2701-59B8-51B7-F33C88D20BEB}"/>
              </a:ext>
            </a:extLst>
          </p:cNvPr>
          <p:cNvSpPr/>
          <p:nvPr/>
        </p:nvSpPr>
        <p:spPr>
          <a:xfrm>
            <a:off x="8733183" y="1610139"/>
            <a:ext cx="3031434" cy="13716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PROBLEM : Number of sequences read as R3 in forward but R5 in reverse 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C585229-65CF-5225-F7B8-F654B23668F8}"/>
              </a:ext>
            </a:extLst>
          </p:cNvPr>
          <p:cNvCxnSpPr>
            <a:stCxn id="12" idx="1"/>
            <a:endCxn id="11" idx="3"/>
          </p:cNvCxnSpPr>
          <p:nvPr/>
        </p:nvCxnSpPr>
        <p:spPr>
          <a:xfrm flipH="1">
            <a:off x="7248939" y="2295939"/>
            <a:ext cx="1484244" cy="685801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904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59114-9DB5-01F2-CD6C-09FF00C7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AB7ED-CB10-265D-F5D8-335D867C7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Only &lt;40% of sequences match rounds between forward and reverse</a:t>
            </a:r>
          </a:p>
          <a:p>
            <a:r>
              <a:rPr lang="en-US" dirty="0"/>
              <a:t>To validate our data processing script we created 3 dataset and looked at base scores</a:t>
            </a:r>
          </a:p>
          <a:p>
            <a:r>
              <a:rPr lang="en-US" dirty="0"/>
              <a:t>3 Runs</a:t>
            </a:r>
          </a:p>
          <a:p>
            <a:pPr lvl="1"/>
            <a:r>
              <a:rPr lang="en-US" dirty="0"/>
              <a:t>Complete Forward and Reverse – </a:t>
            </a:r>
            <a:r>
              <a:rPr lang="en-US" b="1" dirty="0"/>
              <a:t>Previously Shown </a:t>
            </a:r>
          </a:p>
          <a:p>
            <a:pPr lvl="1"/>
            <a:r>
              <a:rPr lang="en-US" dirty="0"/>
              <a:t>Raw sample of 12 sequences stratified on Reverse barcodes with matching forward sequences</a:t>
            </a:r>
          </a:p>
          <a:p>
            <a:pPr lvl="1"/>
            <a:r>
              <a:rPr lang="en-US" dirty="0"/>
              <a:t>Raw sample of 12 sequences stratified on Reverse barcodes with forward sequences to match reverse barcodes (CONTROL)</a:t>
            </a:r>
          </a:p>
        </p:txBody>
      </p:sp>
    </p:spTree>
    <p:extLst>
      <p:ext uri="{BB962C8B-B14F-4D97-AF65-F5344CB8AC3E}">
        <p14:creationId xmlns:p14="http://schemas.microsoft.com/office/powerpoint/2010/main" val="3848072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1BFCB-76DA-67F9-BB82-EBCF956B9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9514"/>
            <a:ext cx="10515600" cy="506896"/>
          </a:xfrm>
        </p:spPr>
        <p:txBody>
          <a:bodyPr>
            <a:normAutofit fontScale="90000"/>
          </a:bodyPr>
          <a:lstStyle/>
          <a:p>
            <a:r>
              <a:rPr lang="en-US" dirty="0"/>
              <a:t>Datasets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787A83-4D7F-F483-F243-63F81F9D4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518090"/>
              </p:ext>
            </p:extLst>
          </p:nvPr>
        </p:nvGraphicFramePr>
        <p:xfrm>
          <a:off x="93870" y="506897"/>
          <a:ext cx="12098130" cy="6197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9626">
                  <a:extLst>
                    <a:ext uri="{9D8B030D-6E8A-4147-A177-3AD203B41FA5}">
                      <a16:colId xmlns:a16="http://schemas.microsoft.com/office/drawing/2014/main" val="2294668629"/>
                    </a:ext>
                  </a:extLst>
                </a:gridCol>
                <a:gridCol w="2419626">
                  <a:extLst>
                    <a:ext uri="{9D8B030D-6E8A-4147-A177-3AD203B41FA5}">
                      <a16:colId xmlns:a16="http://schemas.microsoft.com/office/drawing/2014/main" val="2256755730"/>
                    </a:ext>
                  </a:extLst>
                </a:gridCol>
                <a:gridCol w="2419626">
                  <a:extLst>
                    <a:ext uri="{9D8B030D-6E8A-4147-A177-3AD203B41FA5}">
                      <a16:colId xmlns:a16="http://schemas.microsoft.com/office/drawing/2014/main" val="1780415423"/>
                    </a:ext>
                  </a:extLst>
                </a:gridCol>
                <a:gridCol w="2419626">
                  <a:extLst>
                    <a:ext uri="{9D8B030D-6E8A-4147-A177-3AD203B41FA5}">
                      <a16:colId xmlns:a16="http://schemas.microsoft.com/office/drawing/2014/main" val="1330167431"/>
                    </a:ext>
                  </a:extLst>
                </a:gridCol>
                <a:gridCol w="2419626">
                  <a:extLst>
                    <a:ext uri="{9D8B030D-6E8A-4147-A177-3AD203B41FA5}">
                      <a16:colId xmlns:a16="http://schemas.microsoft.com/office/drawing/2014/main" val="2107554870"/>
                    </a:ext>
                  </a:extLst>
                </a:gridCol>
              </a:tblGrid>
              <a:tr h="522726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Identifer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Sample</a:t>
                      </a:r>
                    </a:p>
                    <a:p>
                      <a:pPr algn="ctr"/>
                      <a:r>
                        <a:rPr lang="en-US" dirty="0"/>
                        <a:t>Forward Barcode      |      Reverse Barcode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Control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Forward Barcode      |      Reverse Barcode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961180"/>
                  </a:ext>
                </a:extLst>
              </a:tr>
              <a:tr h="389542">
                <a:tc>
                  <a:txBody>
                    <a:bodyPr/>
                    <a:lstStyle/>
                    <a:p>
                      <a:r>
                        <a:rPr lang="en-US" sz="1200" dirty="0"/>
                        <a:t>@LH00157:478:22MH22LT4:6:1101:19976:1098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R3 - CCAT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R3 - TAGG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R3 - CCAT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R3 - TAGG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423783768"/>
                  </a:ext>
                </a:extLst>
              </a:tr>
              <a:tr h="449177">
                <a:tc>
                  <a:txBody>
                    <a:bodyPr/>
                    <a:lstStyle/>
                    <a:p>
                      <a:r>
                        <a:rPr lang="en-US" sz="1200" dirty="0"/>
                        <a:t>@LH00157:478:22MH22LT4:6:1101:3363:1112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R3 - CCAT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R3 - TAGG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R3 - CCAT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R3 - TAGG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724586967"/>
                  </a:ext>
                </a:extLst>
              </a:tr>
              <a:tr h="508812">
                <a:tc>
                  <a:txBody>
                    <a:bodyPr/>
                    <a:lstStyle/>
                    <a:p>
                      <a:r>
                        <a:rPr lang="en-US" sz="1200" dirty="0"/>
                        <a:t>@LH00157:478:22MH22LT4:6:1101:9683:1098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R7 - ATAC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R4 - AAGG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R4 - CCAA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R4 - AAGG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1492878213"/>
                  </a:ext>
                </a:extLst>
              </a:tr>
              <a:tr h="477078">
                <a:tc>
                  <a:txBody>
                    <a:bodyPr/>
                    <a:lstStyle/>
                    <a:p>
                      <a:r>
                        <a:rPr lang="en-US" sz="1200" dirty="0"/>
                        <a:t>@LH00157:478:22MH22LT4:6:1101:13252:1112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R3 - CCAT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R4 - AAGG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R4 - CCAA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R4 - AAGG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197848569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200" dirty="0"/>
                        <a:t>@LH00157:478:22MH22LT4:6:1101:9092:1196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R4 - CCAA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R5 - GCAT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R5 - CGAT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R5 - GCAT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21973241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200" dirty="0"/>
                        <a:t>@LH00157:478:22MH22LT4:6:1101:23003:1210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+mn-lt"/>
                        </a:rPr>
                        <a:t>R6 - CGTT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R5 - GCAT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+mn-lt"/>
                        </a:rPr>
                        <a:t>R5 - CGAT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R5 - GCAT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39758749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200" dirty="0"/>
                        <a:t>@LH00157:478:22MH22LT4:6:1101:46317:1168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R3 - CCAT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R6 - TTCG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R6 - CGTT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R6 - TTCG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24683137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200" dirty="0"/>
                        <a:t>@LH00157:478:22MH22LT4:6:1101:39568:1224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+mn-lt"/>
                        </a:rPr>
                        <a:t>R7 - ATAC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R6 - TTCG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+mn-lt"/>
                        </a:rPr>
                        <a:t>R6 - CGTT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R6 - TTCG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4833260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200" dirty="0"/>
                        <a:t>@LH00157:478:22MH22LT4:6:1101:38637:1126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+mn-lt"/>
                        </a:rPr>
                        <a:t>R5 - CGAT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R7 - GAAT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R7 - </a:t>
                      </a:r>
                      <a:r>
                        <a:rPr lang="en-US" sz="1800" dirty="0">
                          <a:latin typeface="+mn-lt"/>
                        </a:rPr>
                        <a:t>ATAC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R7 - GAAT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46026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200" dirty="0"/>
                        <a:t>@LH00157:478:22MH22LT4:6:1101:32018:1154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+mn-lt"/>
                        </a:rPr>
                        <a:t>R7 - ATAC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R7 - GAAT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R7 - </a:t>
                      </a:r>
                      <a:r>
                        <a:rPr lang="en-US" sz="1800" dirty="0">
                          <a:latin typeface="+mn-lt"/>
                        </a:rPr>
                        <a:t>ATAC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R7 - GAAT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49931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200" dirty="0"/>
                        <a:t>@LH00157:478:22MH22LT4:6:1101:33547:1112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R5 - CGAT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Non_Matched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Non_Matched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Non_Matched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9841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200" dirty="0"/>
                        <a:t>@LH00157:478:22MH22LT4:6:1101:15210:1252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R5 - CGAT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Non_Matched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Non_Matched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Non_Matched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41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8273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quality score&#10;&#10;AI-generated content may be incorrect.">
            <a:extLst>
              <a:ext uri="{FF2B5EF4-FFF2-40B4-BE49-F238E27FC236}">
                <a16:creationId xmlns:a16="http://schemas.microsoft.com/office/drawing/2014/main" id="{980FAAD0-C986-A79C-0C2D-2555CB749E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420" y="841651"/>
            <a:ext cx="12043160" cy="6016349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B09F483-C0A9-79F3-7EAF-DC6425129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9514"/>
            <a:ext cx="10515600" cy="506896"/>
          </a:xfrm>
        </p:spPr>
        <p:txBody>
          <a:bodyPr>
            <a:normAutofit fontScale="90000"/>
          </a:bodyPr>
          <a:lstStyle/>
          <a:p>
            <a:r>
              <a:rPr lang="en-US" dirty="0"/>
              <a:t>Control </a:t>
            </a:r>
          </a:p>
        </p:txBody>
      </p:sp>
    </p:spTree>
    <p:extLst>
      <p:ext uri="{BB962C8B-B14F-4D97-AF65-F5344CB8AC3E}">
        <p14:creationId xmlns:p14="http://schemas.microsoft.com/office/powerpoint/2010/main" val="3780943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572E8-F070-AC05-90D0-26F145F2A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quality score&#10;&#10;AI-generated content may be incorrect.">
            <a:extLst>
              <a:ext uri="{FF2B5EF4-FFF2-40B4-BE49-F238E27FC236}">
                <a16:creationId xmlns:a16="http://schemas.microsoft.com/office/drawing/2014/main" id="{87B4BE69-A67A-668B-EC15-77F0352436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8459"/>
          <a:stretch>
            <a:fillRect/>
          </a:stretch>
        </p:blipFill>
        <p:spPr>
          <a:xfrm>
            <a:off x="2668533" y="841651"/>
            <a:ext cx="6207110" cy="6016349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50885F8-B5F8-67D4-5F4E-D6F295581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9514"/>
            <a:ext cx="10515600" cy="506896"/>
          </a:xfrm>
        </p:spPr>
        <p:txBody>
          <a:bodyPr>
            <a:normAutofit fontScale="90000"/>
          </a:bodyPr>
          <a:lstStyle/>
          <a:p>
            <a:r>
              <a:rPr lang="en-US" dirty="0"/>
              <a:t>Control 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3B3D3BA-E68C-9FA1-E790-05866F273542}"/>
              </a:ext>
            </a:extLst>
          </p:cNvPr>
          <p:cNvSpPr/>
          <p:nvPr/>
        </p:nvSpPr>
        <p:spPr>
          <a:xfrm>
            <a:off x="6402578" y="1621996"/>
            <a:ext cx="3945835" cy="12423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 an ideal setting the line should be perfectly diagonal meaning for each sequence the predicted rounds are the same for each file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4B1ACFC8-3C4D-49D8-8E20-E7E8934CAAED}"/>
              </a:ext>
            </a:extLst>
          </p:cNvPr>
          <p:cNvSpPr/>
          <p:nvPr/>
        </p:nvSpPr>
        <p:spPr>
          <a:xfrm rot="18770737">
            <a:off x="5833604" y="428291"/>
            <a:ext cx="586408" cy="487219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416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74E05-B93D-C5CB-E4DC-CB129F2F5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quality score&#10;&#10;AI-generated content may be incorrect.">
            <a:extLst>
              <a:ext uri="{FF2B5EF4-FFF2-40B4-BE49-F238E27FC236}">
                <a16:creationId xmlns:a16="http://schemas.microsoft.com/office/drawing/2014/main" id="{8A5DB641-2556-6E9D-DDFE-D01ADDAC5B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1541"/>
          <a:stretch>
            <a:fillRect/>
          </a:stretch>
        </p:blipFill>
        <p:spPr>
          <a:xfrm>
            <a:off x="2564295" y="586410"/>
            <a:ext cx="5836050" cy="6016349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390AD2D-DD08-26E6-48D7-0D0F7D83D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9514"/>
            <a:ext cx="10515600" cy="506896"/>
          </a:xfrm>
        </p:spPr>
        <p:txBody>
          <a:bodyPr>
            <a:normAutofit fontScale="90000"/>
          </a:bodyPr>
          <a:lstStyle/>
          <a:p>
            <a:r>
              <a:rPr lang="en-US" dirty="0"/>
              <a:t>Control 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0686335-B879-4307-668E-BD90583679F1}"/>
              </a:ext>
            </a:extLst>
          </p:cNvPr>
          <p:cNvSpPr/>
          <p:nvPr/>
        </p:nvSpPr>
        <p:spPr>
          <a:xfrm>
            <a:off x="8806070" y="516835"/>
            <a:ext cx="3081130" cy="31308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 supporting graph displaying the Phred Scores of each base in the barcode. The median is 40 and mean of 38. Denoting strong confidence in the bases.</a:t>
            </a:r>
          </a:p>
          <a:p>
            <a:pPr algn="ctr"/>
            <a:r>
              <a:rPr lang="en-US" dirty="0"/>
              <a:t>This is a less important graph</a:t>
            </a:r>
          </a:p>
        </p:txBody>
      </p:sp>
    </p:spTree>
    <p:extLst>
      <p:ext uri="{BB962C8B-B14F-4D97-AF65-F5344CB8AC3E}">
        <p14:creationId xmlns:p14="http://schemas.microsoft.com/office/powerpoint/2010/main" val="3186104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33775-4B20-4A76-33F3-529F5F99F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A35D2C6-14BD-5693-6723-BA1512156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3431"/>
            <a:ext cx="10515600" cy="506896"/>
          </a:xfrm>
        </p:spPr>
        <p:txBody>
          <a:bodyPr>
            <a:normAutofit fontScale="90000"/>
          </a:bodyPr>
          <a:lstStyle/>
          <a:p>
            <a:r>
              <a:rPr lang="en-US" dirty="0"/>
              <a:t>Small Sample </a:t>
            </a:r>
          </a:p>
        </p:txBody>
      </p:sp>
      <p:pic>
        <p:nvPicPr>
          <p:cNvPr id="8" name="Content Placeholder 7" descr="A screenshot of a graph&#10;&#10;AI-generated content may be incorrect.">
            <a:extLst>
              <a:ext uri="{FF2B5EF4-FFF2-40B4-BE49-F238E27FC236}">
                <a16:creationId xmlns:a16="http://schemas.microsoft.com/office/drawing/2014/main" id="{B6332F9B-3CCA-5EA6-6300-4EC9B0B78B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7642"/>
          <a:stretch>
            <a:fillRect/>
          </a:stretch>
        </p:blipFill>
        <p:spPr>
          <a:xfrm>
            <a:off x="1491636" y="685800"/>
            <a:ext cx="6011644" cy="5735888"/>
          </a:xfrm>
        </p:spPr>
      </p:pic>
      <p:sp>
        <p:nvSpPr>
          <p:cNvPr id="9" name="Right Brace 8">
            <a:extLst>
              <a:ext uri="{FF2B5EF4-FFF2-40B4-BE49-F238E27FC236}">
                <a16:creationId xmlns:a16="http://schemas.microsoft.com/office/drawing/2014/main" id="{3BC2F8F8-3913-E6E1-D842-1636607DCA13}"/>
              </a:ext>
            </a:extLst>
          </p:cNvPr>
          <p:cNvSpPr/>
          <p:nvPr/>
        </p:nvSpPr>
        <p:spPr>
          <a:xfrm>
            <a:off x="7255565" y="979510"/>
            <a:ext cx="914400" cy="5148469"/>
          </a:xfrm>
          <a:prstGeom prst="rightBrac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233E416-D8A5-741C-617D-56EB1453E5BE}"/>
              </a:ext>
            </a:extLst>
          </p:cNvPr>
          <p:cNvSpPr/>
          <p:nvPr/>
        </p:nvSpPr>
        <p:spPr>
          <a:xfrm>
            <a:off x="8368748" y="2638839"/>
            <a:ext cx="3250095" cy="1580322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With Smaller manually checked method, the trend is still present showing correct working of the methodology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4C0002A-BD82-9844-DCCE-AD78D16119E3}"/>
              </a:ext>
            </a:extLst>
          </p:cNvPr>
          <p:cNvSpPr/>
          <p:nvPr/>
        </p:nvSpPr>
        <p:spPr>
          <a:xfrm>
            <a:off x="129209" y="586410"/>
            <a:ext cx="2117035" cy="8890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row counts match the table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BF4DC23-5E8C-E206-D1F1-58A5FDC60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818125"/>
              </p:ext>
            </p:extLst>
          </p:nvPr>
        </p:nvGraphicFramePr>
        <p:xfrm>
          <a:off x="2375453" y="845513"/>
          <a:ext cx="42440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335">
                  <a:extLst>
                    <a:ext uri="{9D8B030D-6E8A-4147-A177-3AD203B41FA5}">
                      <a16:colId xmlns:a16="http://schemas.microsoft.com/office/drawing/2014/main" val="2319653180"/>
                    </a:ext>
                  </a:extLst>
                </a:gridCol>
                <a:gridCol w="707335">
                  <a:extLst>
                    <a:ext uri="{9D8B030D-6E8A-4147-A177-3AD203B41FA5}">
                      <a16:colId xmlns:a16="http://schemas.microsoft.com/office/drawing/2014/main" val="3934632693"/>
                    </a:ext>
                  </a:extLst>
                </a:gridCol>
                <a:gridCol w="707335">
                  <a:extLst>
                    <a:ext uri="{9D8B030D-6E8A-4147-A177-3AD203B41FA5}">
                      <a16:colId xmlns:a16="http://schemas.microsoft.com/office/drawing/2014/main" val="2747414236"/>
                    </a:ext>
                  </a:extLst>
                </a:gridCol>
                <a:gridCol w="707335">
                  <a:extLst>
                    <a:ext uri="{9D8B030D-6E8A-4147-A177-3AD203B41FA5}">
                      <a16:colId xmlns:a16="http://schemas.microsoft.com/office/drawing/2014/main" val="250224036"/>
                    </a:ext>
                  </a:extLst>
                </a:gridCol>
                <a:gridCol w="707335">
                  <a:extLst>
                    <a:ext uri="{9D8B030D-6E8A-4147-A177-3AD203B41FA5}">
                      <a16:colId xmlns:a16="http://schemas.microsoft.com/office/drawing/2014/main" val="310610689"/>
                    </a:ext>
                  </a:extLst>
                </a:gridCol>
                <a:gridCol w="707335">
                  <a:extLst>
                    <a:ext uri="{9D8B030D-6E8A-4147-A177-3AD203B41FA5}">
                      <a16:colId xmlns:a16="http://schemas.microsoft.com/office/drawing/2014/main" val="31577944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155383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752A687-41F1-5E13-EDCE-48121A8DA2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184398"/>
              </p:ext>
            </p:extLst>
          </p:nvPr>
        </p:nvGraphicFramePr>
        <p:xfrm>
          <a:off x="1567071" y="1475457"/>
          <a:ext cx="492539" cy="3981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539">
                  <a:extLst>
                    <a:ext uri="{9D8B030D-6E8A-4147-A177-3AD203B41FA5}">
                      <a16:colId xmlns:a16="http://schemas.microsoft.com/office/drawing/2014/main" val="775872620"/>
                    </a:ext>
                  </a:extLst>
                </a:gridCol>
              </a:tblGrid>
              <a:tr h="568732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3980281"/>
                  </a:ext>
                </a:extLst>
              </a:tr>
              <a:tr h="568732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0989460"/>
                  </a:ext>
                </a:extLst>
              </a:tr>
              <a:tr h="568732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7340590"/>
                  </a:ext>
                </a:extLst>
              </a:tr>
              <a:tr h="568732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6903133"/>
                  </a:ext>
                </a:extLst>
              </a:tr>
              <a:tr h="568732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4743630"/>
                  </a:ext>
                </a:extLst>
              </a:tr>
              <a:tr h="568732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6711383"/>
                  </a:ext>
                </a:extLst>
              </a:tr>
              <a:tr h="568732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5190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8141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810AC-D7CA-55B9-F0F7-91E6C03CE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Full Sample Both Graphs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4D87604A-9AA3-253F-1F1B-881BB7F0D3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739" y="921164"/>
            <a:ext cx="11726644" cy="5858228"/>
          </a:xfrm>
        </p:spPr>
      </p:pic>
    </p:spTree>
    <p:extLst>
      <p:ext uri="{BB962C8B-B14F-4D97-AF65-F5344CB8AC3E}">
        <p14:creationId xmlns:p14="http://schemas.microsoft.com/office/powerpoint/2010/main" val="6015724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636F4-8093-052E-22A0-634B6A3B1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Small Sample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D6AE2E3C-9C2B-3CED-76A3-E6B626F61A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061" y="1081813"/>
            <a:ext cx="11525877" cy="5757932"/>
          </a:xfrm>
        </p:spPr>
      </p:pic>
    </p:spTree>
    <p:extLst>
      <p:ext uri="{BB962C8B-B14F-4D97-AF65-F5344CB8AC3E}">
        <p14:creationId xmlns:p14="http://schemas.microsoft.com/office/powerpoint/2010/main" val="814274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884</Words>
  <Application>Microsoft Macintosh PowerPoint</Application>
  <PresentationFormat>Widescreen</PresentationFormat>
  <Paragraphs>175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Rhau Data Analysis</vt:lpstr>
      <vt:lpstr>Overview</vt:lpstr>
      <vt:lpstr>…CCAAATACTAATACGACTCACTATAGGATTAAGGAGGTGATATTTATG CATCCGGGCCATCTGAAAGGCAGCGAAATTGGCATGTGGTATGCGAAAAAACAGTGTATTCTTTATTTTCTTCGTGATCTTCTTTTTGAT TGCGGTGGAGGAGGAGGTAGCTAGGGACGGGGGGCGGGAGGCGGGAAGG… </vt:lpstr>
      <vt:lpstr>…CCAAATACTAATACGACTCACTATAGGATTAAGGAGGTGATATTTATG CATCCGGGCCATCTGAAAGGCAGCGAAATTGGCATGTGGTATGCGAAAAAACAGTGTATTCTTTATTTTCTTCGTGATCTTCTTTTTGAT TGCGGTGGAGGAGGAGGTAGCTAGGGACGGGGGGCGGGAGGCGGGAAGG… </vt:lpstr>
      <vt:lpstr>…CCAAATACTAATACGACTCACTATAGGATTAAGGAGGTGATATTTATG  </vt:lpstr>
      <vt:lpstr>TGCGGTGGAGGAGGAGGTAGCTAGGGACGGGGGGCGGGAGGCGGGAAGG…</vt:lpstr>
      <vt:lpstr>CCAAATA…GTGATATTTATG…N90…TGCGGTGGAGGA</vt:lpstr>
      <vt:lpstr>Data Split set</vt:lpstr>
      <vt:lpstr>PowerPoint Presentation</vt:lpstr>
      <vt:lpstr>PowerPoint Presentation</vt:lpstr>
      <vt:lpstr>Non_matched corrections</vt:lpstr>
      <vt:lpstr>PowerPoint Presentation</vt:lpstr>
      <vt:lpstr>PowerPoint Presentation</vt:lpstr>
      <vt:lpstr>Data sets</vt:lpstr>
      <vt:lpstr>Datasets</vt:lpstr>
      <vt:lpstr>Control </vt:lpstr>
      <vt:lpstr>Control </vt:lpstr>
      <vt:lpstr>Control </vt:lpstr>
      <vt:lpstr>Small Sample </vt:lpstr>
      <vt:lpstr>Full Sample Both Graphs</vt:lpstr>
      <vt:lpstr>Small Sample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Koland (CMP - Postgraduate Researcher)</dc:creator>
  <cp:lastModifiedBy>Ethan Koland (CMP - Postgraduate Researcher)</cp:lastModifiedBy>
  <cp:revision>1</cp:revision>
  <dcterms:created xsi:type="dcterms:W3CDTF">2026-01-30T18:35:29Z</dcterms:created>
  <dcterms:modified xsi:type="dcterms:W3CDTF">2026-01-30T20:08:14Z</dcterms:modified>
</cp:coreProperties>
</file>